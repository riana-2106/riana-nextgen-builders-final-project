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25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26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PRODUKSI BATUBARA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298654</c:v>
                </c:pt>
                <c:pt idx="1">
                  <c:v>328283</c:v>
                </c:pt>
                <c:pt idx="2">
                  <c:v>329599</c:v>
                </c:pt>
                <c:pt idx="3">
                  <c:v>404114</c:v>
                </c:pt>
                <c:pt idx="4">
                  <c:v>367360</c:v>
                </c:pt>
                <c:pt idx="5">
                  <c:v>375498</c:v>
                </c:pt>
                <c:pt idx="6">
                  <c:v>411105</c:v>
                </c:pt>
                <c:pt idx="7">
                  <c:v>424784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336854</c:v>
                </c:pt>
                <c:pt idx="1">
                  <c:v>322082</c:v>
                </c:pt>
                <c:pt idx="2">
                  <c:v>366489</c:v>
                </c:pt>
                <c:pt idx="3">
                  <c:v>381749</c:v>
                </c:pt>
                <c:pt idx="4">
                  <c:v>407458</c:v>
                </c:pt>
                <c:pt idx="5">
                  <c:v>416287</c:v>
                </c:pt>
                <c:pt idx="6">
                  <c:v>426667</c:v>
                </c:pt>
                <c:pt idx="7">
                  <c:v>427025</c:v>
                </c:pt>
                <c:pt idx="8">
                  <c:v>409861</c:v>
                </c:pt>
                <c:pt idx="9">
                  <c:v>397606</c:v>
                </c:pt>
                <c:pt idx="10">
                  <c:v>373854</c:v>
                </c:pt>
                <c:pt idx="11">
                  <c:v>362008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PENJUALAN BATUBARA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296565</c:v>
                </c:pt>
                <c:pt idx="1">
                  <c:v>318852</c:v>
                </c:pt>
                <c:pt idx="2">
                  <c:v>326363</c:v>
                </c:pt>
                <c:pt idx="3">
                  <c:v>387033</c:v>
                </c:pt>
                <c:pt idx="4">
                  <c:v>360442</c:v>
                </c:pt>
                <c:pt idx="5">
                  <c:v>358471</c:v>
                </c:pt>
                <c:pt idx="6">
                  <c:v>392533</c:v>
                </c:pt>
                <c:pt idx="7">
                  <c:v>404338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330117</c:v>
                </c:pt>
                <c:pt idx="1">
                  <c:v>315640</c:v>
                </c:pt>
                <c:pt idx="2">
                  <c:v>359160</c:v>
                </c:pt>
                <c:pt idx="3">
                  <c:v>374114</c:v>
                </c:pt>
                <c:pt idx="4">
                  <c:v>399308</c:v>
                </c:pt>
                <c:pt idx="5">
                  <c:v>407961</c:v>
                </c:pt>
                <c:pt idx="6">
                  <c:v>418134</c:v>
                </c:pt>
                <c:pt idx="7">
                  <c:v>418485</c:v>
                </c:pt>
                <c:pt idx="8">
                  <c:v>401664</c:v>
                </c:pt>
                <c:pt idx="9">
                  <c:v>389655</c:v>
                </c:pt>
                <c:pt idx="10">
                  <c:v>366377</c:v>
                </c:pt>
                <c:pt idx="11">
                  <c:v>354768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PENDAPATAN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262181</c:v>
                </c:pt>
                <c:pt idx="1">
                  <c:v>289760</c:v>
                </c:pt>
                <c:pt idx="2">
                  <c:v>285510</c:v>
                </c:pt>
                <c:pt idx="3">
                  <c:v>348119</c:v>
                </c:pt>
                <c:pt idx="4">
                  <c:v>323233</c:v>
                </c:pt>
                <c:pt idx="5">
                  <c:v>314987</c:v>
                </c:pt>
                <c:pt idx="6">
                  <c:v>346403</c:v>
                </c:pt>
                <c:pt idx="7">
                  <c:v>361300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296579</c:v>
                </c:pt>
                <c:pt idx="1">
                  <c:v>283603</c:v>
                </c:pt>
                <c:pt idx="2">
                  <c:v>322555</c:v>
                </c:pt>
                <c:pt idx="3">
                  <c:v>335883</c:v>
                </c:pt>
                <c:pt idx="4">
                  <c:v>358431</c:v>
                </c:pt>
                <c:pt idx="5">
                  <c:v>366173</c:v>
                </c:pt>
                <c:pt idx="6">
                  <c:v>375265</c:v>
                </c:pt>
                <c:pt idx="7">
                  <c:v>375581</c:v>
                </c:pt>
                <c:pt idx="8">
                  <c:v>360532</c:v>
                </c:pt>
                <c:pt idx="9">
                  <c:v>349806</c:v>
                </c:pt>
                <c:pt idx="10">
                  <c:v>328978</c:v>
                </c:pt>
                <c:pt idx="11">
                  <c:v>318628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EBITDA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43307</c:v>
                </c:pt>
                <c:pt idx="1">
                  <c:v>39491</c:v>
                </c:pt>
                <c:pt idx="2">
                  <c:v>33552</c:v>
                </c:pt>
                <c:pt idx="3">
                  <c:v>47243</c:v>
                </c:pt>
                <c:pt idx="4">
                  <c:v>53199</c:v>
                </c:pt>
                <c:pt idx="5">
                  <c:v>49209</c:v>
                </c:pt>
                <c:pt idx="6">
                  <c:v>63148</c:v>
                </c:pt>
                <c:pt idx="7">
                  <c:v>71032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55565</c:v>
                </c:pt>
                <c:pt idx="1">
                  <c:v>53618</c:v>
                </c:pt>
                <c:pt idx="2">
                  <c:v>61343</c:v>
                </c:pt>
                <c:pt idx="3">
                  <c:v>68744</c:v>
                </c:pt>
                <c:pt idx="4">
                  <c:v>77103</c:v>
                </c:pt>
                <c:pt idx="5">
                  <c:v>80893</c:v>
                </c:pt>
                <c:pt idx="6">
                  <c:v>84192</c:v>
                </c:pt>
                <c:pt idx="7">
                  <c:v>85377</c:v>
                </c:pt>
                <c:pt idx="8">
                  <c:v>81606</c:v>
                </c:pt>
                <c:pt idx="9">
                  <c:v>77580</c:v>
                </c:pt>
                <c:pt idx="10">
                  <c:v>70878</c:v>
                </c:pt>
                <c:pt idx="11">
                  <c:v>66135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LABA BERSIH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16217</c:v>
                </c:pt>
                <c:pt idx="1">
                  <c:v>13426</c:v>
                </c:pt>
                <c:pt idx="2">
                  <c:v>8583</c:v>
                </c:pt>
                <c:pt idx="3">
                  <c:v>17723</c:v>
                </c:pt>
                <c:pt idx="4">
                  <c:v>23165</c:v>
                </c:pt>
                <c:pt idx="5">
                  <c:v>19870</c:v>
                </c:pt>
                <c:pt idx="6">
                  <c:v>30004</c:v>
                </c:pt>
                <c:pt idx="7">
                  <c:v>36090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25412</c:v>
                </c:pt>
                <c:pt idx="1">
                  <c:v>24403</c:v>
                </c:pt>
                <c:pt idx="2">
                  <c:v>29432</c:v>
                </c:pt>
                <c:pt idx="3">
                  <c:v>35373</c:v>
                </c:pt>
                <c:pt idx="4">
                  <c:v>41318</c:v>
                </c:pt>
                <c:pt idx="5">
                  <c:v>44132</c:v>
                </c:pt>
                <c:pt idx="6">
                  <c:v>46605</c:v>
                </c:pt>
                <c:pt idx="7">
                  <c:v>47537</c:v>
                </c:pt>
                <c:pt idx="8">
                  <c:v>44934</c:v>
                </c:pt>
                <c:pt idx="9">
                  <c:v>41913</c:v>
                </c:pt>
                <c:pt idx="10">
                  <c:v>37215</c:v>
                </c:pt>
                <c:pt idx="11">
                  <c:v>33477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TOTAL ASET (Rp juta)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Des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Mei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Agu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3400150</c:v>
                </c:pt>
                <c:pt idx="1">
                  <c:v>3346218</c:v>
                </c:pt>
                <c:pt idx="2">
                  <c:v>3382613</c:v>
                </c:pt>
                <c:pt idx="3">
                  <c:v>3386326</c:v>
                </c:pt>
                <c:pt idx="4">
                  <c:v>3472187</c:v>
                </c:pt>
                <c:pt idx="5">
                  <c:v>3447813</c:v>
                </c:pt>
                <c:pt idx="6">
                  <c:v>3377057</c:v>
                </c:pt>
                <c:pt idx="7">
                  <c:v>3469639</c:v>
                </c:pt>
                <c:pt idx="8">
                  <c:v>3501682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PRODUKSI BATUBARA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193042</c:v>
                </c:pt>
                <c:pt idx="1">
                  <c:v>212866</c:v>
                </c:pt>
                <c:pt idx="2">
                  <c:v>209826</c:v>
                </c:pt>
                <c:pt idx="3">
                  <c:v>255864</c:v>
                </c:pt>
                <c:pt idx="4">
                  <c:v>237723</c:v>
                </c:pt>
                <c:pt idx="5">
                  <c:v>239194</c:v>
                </c:pt>
                <c:pt idx="6">
                  <c:v>274042</c:v>
                </c:pt>
                <c:pt idx="7">
                  <c:v>283132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215000</c:v>
                </c:pt>
                <c:pt idx="1">
                  <c:v>210000</c:v>
                </c:pt>
                <c:pt idx="2">
                  <c:v>232500</c:v>
                </c:pt>
                <c:pt idx="3">
                  <c:v>250000</c:v>
                </c:pt>
                <c:pt idx="4">
                  <c:v>262500</c:v>
                </c:pt>
                <c:pt idx="5">
                  <c:v>267500</c:v>
                </c:pt>
                <c:pt idx="6">
                  <c:v>275000</c:v>
                </c:pt>
                <c:pt idx="7">
                  <c:v>275000</c:v>
                </c:pt>
                <c:pt idx="8">
                  <c:v>265000</c:v>
                </c:pt>
                <c:pt idx="9">
                  <c:v>255000</c:v>
                </c:pt>
                <c:pt idx="10">
                  <c:v>242500</c:v>
                </c:pt>
                <c:pt idx="11">
                  <c:v>230000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PENJUALAN BATUBARA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191691</c:v>
                </c:pt>
                <c:pt idx="1">
                  <c:v>206751</c:v>
                </c:pt>
                <c:pt idx="2">
                  <c:v>207765</c:v>
                </c:pt>
                <c:pt idx="3">
                  <c:v>245050</c:v>
                </c:pt>
                <c:pt idx="4">
                  <c:v>233246</c:v>
                </c:pt>
                <c:pt idx="5">
                  <c:v>228348</c:v>
                </c:pt>
                <c:pt idx="6">
                  <c:v>261662</c:v>
                </c:pt>
                <c:pt idx="7">
                  <c:v>269504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210700</c:v>
                </c:pt>
                <c:pt idx="1">
                  <c:v>205800</c:v>
                </c:pt>
                <c:pt idx="2">
                  <c:v>227850</c:v>
                </c:pt>
                <c:pt idx="3">
                  <c:v>245000</c:v>
                </c:pt>
                <c:pt idx="4">
                  <c:v>257250</c:v>
                </c:pt>
                <c:pt idx="5">
                  <c:v>262150</c:v>
                </c:pt>
                <c:pt idx="6">
                  <c:v>269500</c:v>
                </c:pt>
                <c:pt idx="7">
                  <c:v>269500</c:v>
                </c:pt>
                <c:pt idx="8">
                  <c:v>259700</c:v>
                </c:pt>
                <c:pt idx="9">
                  <c:v>249900</c:v>
                </c:pt>
                <c:pt idx="10">
                  <c:v>237650</c:v>
                </c:pt>
                <c:pt idx="11">
                  <c:v>225400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PENDAPATAN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169467</c:v>
                </c:pt>
                <c:pt idx="1">
                  <c:v>187887</c:v>
                </c:pt>
                <c:pt idx="2">
                  <c:v>181758</c:v>
                </c:pt>
                <c:pt idx="3">
                  <c:v>220411</c:v>
                </c:pt>
                <c:pt idx="4">
                  <c:v>209167</c:v>
                </c:pt>
                <c:pt idx="5">
                  <c:v>200649</c:v>
                </c:pt>
                <c:pt idx="6">
                  <c:v>230912</c:v>
                </c:pt>
                <c:pt idx="7">
                  <c:v>240818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189294</c:v>
                </c:pt>
                <c:pt idx="1">
                  <c:v>184912</c:v>
                </c:pt>
                <c:pt idx="2">
                  <c:v>204628</c:v>
                </c:pt>
                <c:pt idx="3">
                  <c:v>219963</c:v>
                </c:pt>
                <c:pt idx="4">
                  <c:v>230915</c:v>
                </c:pt>
                <c:pt idx="5">
                  <c:v>235297</c:v>
                </c:pt>
                <c:pt idx="6">
                  <c:v>241870</c:v>
                </c:pt>
                <c:pt idx="7">
                  <c:v>241870</c:v>
                </c:pt>
                <c:pt idx="8">
                  <c:v>233106</c:v>
                </c:pt>
                <c:pt idx="9">
                  <c:v>224344</c:v>
                </c:pt>
                <c:pt idx="10">
                  <c:v>213391</c:v>
                </c:pt>
                <c:pt idx="11">
                  <c:v>202438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EBITDA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26070</c:v>
                </c:pt>
                <c:pt idx="1">
                  <c:v>23501</c:v>
                </c:pt>
                <c:pt idx="2">
                  <c:v>19292</c:v>
                </c:pt>
                <c:pt idx="3">
                  <c:v>27422</c:v>
                </c:pt>
                <c:pt idx="4">
                  <c:v>32117</c:v>
                </c:pt>
                <c:pt idx="5">
                  <c:v>29092</c:v>
                </c:pt>
                <c:pt idx="6">
                  <c:v>39581</c:v>
                </c:pt>
                <c:pt idx="7">
                  <c:v>44740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33429</c:v>
                </c:pt>
                <c:pt idx="1">
                  <c:v>32969</c:v>
                </c:pt>
                <c:pt idx="2">
                  <c:v>36720</c:v>
                </c:pt>
                <c:pt idx="3">
                  <c:v>42658</c:v>
                </c:pt>
                <c:pt idx="4">
                  <c:v>47200</c:v>
                </c:pt>
                <c:pt idx="5">
                  <c:v>49460</c:v>
                </c:pt>
                <c:pt idx="6">
                  <c:v>51676</c:v>
                </c:pt>
                <c:pt idx="7">
                  <c:v>52394</c:v>
                </c:pt>
                <c:pt idx="8">
                  <c:v>50268</c:v>
                </c:pt>
                <c:pt idx="9">
                  <c:v>47352</c:v>
                </c:pt>
                <c:pt idx="10">
                  <c:v>43687</c:v>
                </c:pt>
                <c:pt idx="11">
                  <c:v>39847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LABA BERSIH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9315</c:v>
                </c:pt>
                <c:pt idx="1">
                  <c:v>7397</c:v>
                </c:pt>
                <c:pt idx="2">
                  <c:v>4178</c:v>
                </c:pt>
                <c:pt idx="3">
                  <c:v>9606</c:v>
                </c:pt>
                <c:pt idx="4">
                  <c:v>13523</c:v>
                </c:pt>
                <c:pt idx="5">
                  <c:v>11227</c:v>
                </c:pt>
                <c:pt idx="6">
                  <c:v>18383</c:v>
                </c:pt>
                <c:pt idx="7">
                  <c:v>22366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14960</c:v>
                </c:pt>
                <c:pt idx="1">
                  <c:v>14694</c:v>
                </c:pt>
                <c:pt idx="2">
                  <c:v>17285</c:v>
                </c:pt>
                <c:pt idx="3">
                  <c:v>21659</c:v>
                </c:pt>
                <c:pt idx="4">
                  <c:v>25022</c:v>
                </c:pt>
                <c:pt idx="5">
                  <c:v>26723</c:v>
                </c:pt>
                <c:pt idx="6">
                  <c:v>28350</c:v>
                </c:pt>
                <c:pt idx="7">
                  <c:v>28926</c:v>
                </c:pt>
                <c:pt idx="8">
                  <c:v>27439</c:v>
                </c:pt>
                <c:pt idx="9">
                  <c:v>25336</c:v>
                </c:pt>
                <c:pt idx="10">
                  <c:v>22688</c:v>
                </c:pt>
                <c:pt idx="11">
                  <c:v>19903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TOTAL ASET (Rp juta)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Des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Mei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Agu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2052000</c:v>
                </c:pt>
                <c:pt idx="1">
                  <c:v>2016115</c:v>
                </c:pt>
                <c:pt idx="2">
                  <c:v>2038669</c:v>
                </c:pt>
                <c:pt idx="3">
                  <c:v>2039931</c:v>
                </c:pt>
                <c:pt idx="4">
                  <c:v>2094385</c:v>
                </c:pt>
                <c:pt idx="5">
                  <c:v>2077095</c:v>
                </c:pt>
                <c:pt idx="6">
                  <c:v>2030071</c:v>
                </c:pt>
                <c:pt idx="7">
                  <c:v>2088645</c:v>
                </c:pt>
                <c:pt idx="8">
                  <c:v>2107951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PRODUKSI BATUBARA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105612</c:v>
                </c:pt>
                <c:pt idx="1">
                  <c:v>115417</c:v>
                </c:pt>
                <c:pt idx="2">
                  <c:v>119773</c:v>
                </c:pt>
                <c:pt idx="3">
                  <c:v>148250</c:v>
                </c:pt>
                <c:pt idx="4">
                  <c:v>129637</c:v>
                </c:pt>
                <c:pt idx="5">
                  <c:v>136304</c:v>
                </c:pt>
                <c:pt idx="6">
                  <c:v>137063</c:v>
                </c:pt>
                <c:pt idx="7">
                  <c:v>141652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121854</c:v>
                </c:pt>
                <c:pt idx="1">
                  <c:v>112082</c:v>
                </c:pt>
                <c:pt idx="2">
                  <c:v>133989</c:v>
                </c:pt>
                <c:pt idx="3">
                  <c:v>131749</c:v>
                </c:pt>
                <c:pt idx="4">
                  <c:v>144958</c:v>
                </c:pt>
                <c:pt idx="5">
                  <c:v>148787</c:v>
                </c:pt>
                <c:pt idx="6">
                  <c:v>151667</c:v>
                </c:pt>
                <c:pt idx="7">
                  <c:v>152025</c:v>
                </c:pt>
                <c:pt idx="8">
                  <c:v>144861</c:v>
                </c:pt>
                <c:pt idx="9">
                  <c:v>142606</c:v>
                </c:pt>
                <c:pt idx="10">
                  <c:v>131354</c:v>
                </c:pt>
                <c:pt idx="11">
                  <c:v>132008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PENJUALAN BATUBARA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104874</c:v>
                </c:pt>
                <c:pt idx="1">
                  <c:v>112101</c:v>
                </c:pt>
                <c:pt idx="2">
                  <c:v>118598</c:v>
                </c:pt>
                <c:pt idx="3">
                  <c:v>141983</c:v>
                </c:pt>
                <c:pt idx="4">
                  <c:v>127196</c:v>
                </c:pt>
                <c:pt idx="5">
                  <c:v>130123</c:v>
                </c:pt>
                <c:pt idx="6">
                  <c:v>130871</c:v>
                </c:pt>
                <c:pt idx="7">
                  <c:v>134834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119417</c:v>
                </c:pt>
                <c:pt idx="1">
                  <c:v>109840</c:v>
                </c:pt>
                <c:pt idx="2">
                  <c:v>131310</c:v>
                </c:pt>
                <c:pt idx="3">
                  <c:v>129114</c:v>
                </c:pt>
                <c:pt idx="4">
                  <c:v>142058</c:v>
                </c:pt>
                <c:pt idx="5">
                  <c:v>145811</c:v>
                </c:pt>
                <c:pt idx="6">
                  <c:v>148634</c:v>
                </c:pt>
                <c:pt idx="7">
                  <c:v>148985</c:v>
                </c:pt>
                <c:pt idx="8">
                  <c:v>141964</c:v>
                </c:pt>
                <c:pt idx="9">
                  <c:v>139755</c:v>
                </c:pt>
                <c:pt idx="10">
                  <c:v>128727</c:v>
                </c:pt>
                <c:pt idx="11">
                  <c:v>129368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PENDAPATAN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92714</c:v>
                </c:pt>
                <c:pt idx="1">
                  <c:v>101873</c:v>
                </c:pt>
                <c:pt idx="2">
                  <c:v>103752</c:v>
                </c:pt>
                <c:pt idx="3">
                  <c:v>127708</c:v>
                </c:pt>
                <c:pt idx="4">
                  <c:v>114066</c:v>
                </c:pt>
                <c:pt idx="5">
                  <c:v>114338</c:v>
                </c:pt>
                <c:pt idx="6">
                  <c:v>115491</c:v>
                </c:pt>
                <c:pt idx="7">
                  <c:v>120482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107285</c:v>
                </c:pt>
                <c:pt idx="1">
                  <c:v>98691</c:v>
                </c:pt>
                <c:pt idx="2">
                  <c:v>117927</c:v>
                </c:pt>
                <c:pt idx="3">
                  <c:v>115920</c:v>
                </c:pt>
                <c:pt idx="4">
                  <c:v>127516</c:v>
                </c:pt>
                <c:pt idx="5">
                  <c:v>130876</c:v>
                </c:pt>
                <c:pt idx="6">
                  <c:v>133395</c:v>
                </c:pt>
                <c:pt idx="7">
                  <c:v>133711</c:v>
                </c:pt>
                <c:pt idx="8">
                  <c:v>127426</c:v>
                </c:pt>
                <c:pt idx="9">
                  <c:v>125462</c:v>
                </c:pt>
                <c:pt idx="10">
                  <c:v>115587</c:v>
                </c:pt>
                <c:pt idx="11">
                  <c:v>116190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EBITDA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14264</c:v>
                </c:pt>
                <c:pt idx="1">
                  <c:v>12741</c:v>
                </c:pt>
                <c:pt idx="2">
                  <c:v>11011</c:v>
                </c:pt>
                <c:pt idx="3">
                  <c:v>15887</c:v>
                </c:pt>
                <c:pt idx="4">
                  <c:v>17514</c:v>
                </c:pt>
                <c:pt idx="5">
                  <c:v>16578</c:v>
                </c:pt>
                <c:pt idx="6">
                  <c:v>19793</c:v>
                </c:pt>
                <c:pt idx="7">
                  <c:v>22383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18948</c:v>
                </c:pt>
                <c:pt idx="1">
                  <c:v>17598</c:v>
                </c:pt>
                <c:pt idx="2">
                  <c:v>21162</c:v>
                </c:pt>
                <c:pt idx="3">
                  <c:v>22484</c:v>
                </c:pt>
                <c:pt idx="4">
                  <c:v>26064</c:v>
                </c:pt>
                <c:pt idx="5">
                  <c:v>27513</c:v>
                </c:pt>
                <c:pt idx="6">
                  <c:v>28499</c:v>
                </c:pt>
                <c:pt idx="7">
                  <c:v>28964</c:v>
                </c:pt>
                <c:pt idx="8">
                  <c:v>27477</c:v>
                </c:pt>
                <c:pt idx="9">
                  <c:v>26479</c:v>
                </c:pt>
                <c:pt idx="10">
                  <c:v>23662</c:v>
                </c:pt>
                <c:pt idx="11">
                  <c:v>22868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LABA BERSIH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5098</c:v>
                </c:pt>
                <c:pt idx="1">
                  <c:v>4009</c:v>
                </c:pt>
                <c:pt idx="2">
                  <c:v>2386</c:v>
                </c:pt>
                <c:pt idx="3">
                  <c:v>5563</c:v>
                </c:pt>
                <c:pt idx="4">
                  <c:v>7374</c:v>
                </c:pt>
                <c:pt idx="5">
                  <c:v>6397</c:v>
                </c:pt>
                <c:pt idx="6">
                  <c:v>9192</c:v>
                </c:pt>
                <c:pt idx="7">
                  <c:v>11190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8480</c:v>
                </c:pt>
                <c:pt idx="1">
                  <c:v>7844</c:v>
                </c:pt>
                <c:pt idx="2">
                  <c:v>9962</c:v>
                </c:pt>
                <c:pt idx="3">
                  <c:v>11419</c:v>
                </c:pt>
                <c:pt idx="4">
                  <c:v>13816</c:v>
                </c:pt>
                <c:pt idx="5">
                  <c:v>14866</c:v>
                </c:pt>
                <c:pt idx="6">
                  <c:v>15636</c:v>
                </c:pt>
                <c:pt idx="7">
                  <c:v>15991</c:v>
                </c:pt>
                <c:pt idx="8">
                  <c:v>14998</c:v>
                </c:pt>
                <c:pt idx="9">
                  <c:v>14167</c:v>
                </c:pt>
                <c:pt idx="10">
                  <c:v>12289</c:v>
                </c:pt>
                <c:pt idx="11">
                  <c:v>11421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TOTAL ASET (Rp juta)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Des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Mei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Agu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1278600</c:v>
                </c:pt>
                <c:pt idx="1">
                  <c:v>1258863</c:v>
                </c:pt>
                <c:pt idx="2">
                  <c:v>1271268</c:v>
                </c:pt>
                <c:pt idx="3">
                  <c:v>1271962</c:v>
                </c:pt>
                <c:pt idx="4">
                  <c:v>1301913</c:v>
                </c:pt>
                <c:pt idx="5">
                  <c:v>1292402</c:v>
                </c:pt>
                <c:pt idx="6">
                  <c:v>1266540</c:v>
                </c:pt>
                <c:pt idx="7">
                  <c:v>1298753</c:v>
                </c:pt>
                <c:pt idx="8">
                  <c:v>1309374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THROUGHPUT PELABUHAN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88969</c:v>
                </c:pt>
                <c:pt idx="1">
                  <c:v>95655</c:v>
                </c:pt>
                <c:pt idx="2">
                  <c:v>97909</c:v>
                </c:pt>
                <c:pt idx="3">
                  <c:v>116110</c:v>
                </c:pt>
                <c:pt idx="4">
                  <c:v>108133</c:v>
                </c:pt>
                <c:pt idx="5">
                  <c:v>107541</c:v>
                </c:pt>
                <c:pt idx="6">
                  <c:v>117760</c:v>
                </c:pt>
                <c:pt idx="7">
                  <c:v>121301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99035</c:v>
                </c:pt>
                <c:pt idx="1">
                  <c:v>94692</c:v>
                </c:pt>
                <c:pt idx="2">
                  <c:v>107748</c:v>
                </c:pt>
                <c:pt idx="3">
                  <c:v>112234</c:v>
                </c:pt>
                <c:pt idx="4">
                  <c:v>119793</c:v>
                </c:pt>
                <c:pt idx="5">
                  <c:v>122388</c:v>
                </c:pt>
                <c:pt idx="6">
                  <c:v>125440</c:v>
                </c:pt>
                <c:pt idx="7">
                  <c:v>125546</c:v>
                </c:pt>
                <c:pt idx="8">
                  <c:v>120499</c:v>
                </c:pt>
                <c:pt idx="9">
                  <c:v>116896</c:v>
                </c:pt>
                <c:pt idx="10">
                  <c:v>109913</c:v>
                </c:pt>
                <c:pt idx="11">
                  <c:v>106430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BARGING DILAYANI (ton)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296563</c:v>
                </c:pt>
                <c:pt idx="1">
                  <c:v>318851</c:v>
                </c:pt>
                <c:pt idx="2">
                  <c:v>326362</c:v>
                </c:pt>
                <c:pt idx="3">
                  <c:v>387034</c:v>
                </c:pt>
                <c:pt idx="4">
                  <c:v>360442</c:v>
                </c:pt>
                <c:pt idx="5">
                  <c:v>358471</c:v>
                </c:pt>
                <c:pt idx="6">
                  <c:v>392533</c:v>
                </c:pt>
                <c:pt idx="7">
                  <c:v>404337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330117</c:v>
                </c:pt>
                <c:pt idx="1">
                  <c:v>315641</c:v>
                </c:pt>
                <c:pt idx="2">
                  <c:v>359159</c:v>
                </c:pt>
                <c:pt idx="3">
                  <c:v>374114</c:v>
                </c:pt>
                <c:pt idx="4">
                  <c:v>399309</c:v>
                </c:pt>
                <c:pt idx="5">
                  <c:v>407961</c:v>
                </c:pt>
                <c:pt idx="6">
                  <c:v>418134</c:v>
                </c:pt>
                <c:pt idx="7">
                  <c:v>418485</c:v>
                </c:pt>
                <c:pt idx="8">
                  <c:v>401663</c:v>
                </c:pt>
                <c:pt idx="9">
                  <c:v>389654</c:v>
                </c:pt>
                <c:pt idx="10">
                  <c:v>366377</c:v>
                </c:pt>
                <c:pt idx="11">
                  <c:v>354768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PENDAPATAN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8660</c:v>
                </c:pt>
                <c:pt idx="1">
                  <c:v>9496</c:v>
                </c:pt>
                <c:pt idx="2">
                  <c:v>9525</c:v>
                </c:pt>
                <c:pt idx="3">
                  <c:v>11644</c:v>
                </c:pt>
                <c:pt idx="4">
                  <c:v>10622</c:v>
                </c:pt>
                <c:pt idx="5">
                  <c:v>10288</c:v>
                </c:pt>
                <c:pt idx="6">
                  <c:v>11247</c:v>
                </c:pt>
                <c:pt idx="7">
                  <c:v>11667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9420</c:v>
                </c:pt>
                <c:pt idx="1">
                  <c:v>9007</c:v>
                </c:pt>
                <c:pt idx="2">
                  <c:v>10249</c:v>
                </c:pt>
                <c:pt idx="3">
                  <c:v>10676</c:v>
                </c:pt>
                <c:pt idx="4">
                  <c:v>11395</c:v>
                </c:pt>
                <c:pt idx="5">
                  <c:v>11642</c:v>
                </c:pt>
                <c:pt idx="6">
                  <c:v>11932</c:v>
                </c:pt>
                <c:pt idx="7">
                  <c:v>11942</c:v>
                </c:pt>
                <c:pt idx="8">
                  <c:v>11462</c:v>
                </c:pt>
                <c:pt idx="9">
                  <c:v>11120</c:v>
                </c:pt>
                <c:pt idx="10">
                  <c:v>10455</c:v>
                </c:pt>
                <c:pt idx="11">
                  <c:v>10124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EBITDA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2618</c:v>
                </c:pt>
                <c:pt idx="1">
                  <c:v>2894</c:v>
                </c:pt>
                <c:pt idx="2">
                  <c:v>2904</c:v>
                </c:pt>
                <c:pt idx="3">
                  <c:v>3603</c:v>
                </c:pt>
                <c:pt idx="4">
                  <c:v>3265</c:v>
                </c:pt>
                <c:pt idx="5">
                  <c:v>3155</c:v>
                </c:pt>
                <c:pt idx="6">
                  <c:v>3471</c:v>
                </c:pt>
                <c:pt idx="7">
                  <c:v>3610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2869</c:v>
                </c:pt>
                <c:pt idx="1">
                  <c:v>2732</c:v>
                </c:pt>
                <c:pt idx="2">
                  <c:v>3142</c:v>
                </c:pt>
                <c:pt idx="3">
                  <c:v>3283</c:v>
                </c:pt>
                <c:pt idx="4">
                  <c:v>3520</c:v>
                </c:pt>
                <c:pt idx="5">
                  <c:v>3601</c:v>
                </c:pt>
                <c:pt idx="6">
                  <c:v>3698</c:v>
                </c:pt>
                <c:pt idx="7">
                  <c:v>3700</c:v>
                </c:pt>
                <c:pt idx="8">
                  <c:v>3542</c:v>
                </c:pt>
                <c:pt idx="9">
                  <c:v>3430</c:v>
                </c:pt>
                <c:pt idx="10">
                  <c:v>3210</c:v>
                </c:pt>
                <c:pt idx="11">
                  <c:v>3101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LABA BERSIH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1449</c:v>
                </c:pt>
                <c:pt idx="1">
                  <c:v>1665</c:v>
                </c:pt>
                <c:pt idx="2">
                  <c:v>1672</c:v>
                </c:pt>
                <c:pt idx="3">
                  <c:v>2218</c:v>
                </c:pt>
                <c:pt idx="4">
                  <c:v>1954</c:v>
                </c:pt>
                <c:pt idx="5">
                  <c:v>1868</c:v>
                </c:pt>
                <c:pt idx="6">
                  <c:v>2115</c:v>
                </c:pt>
                <c:pt idx="7">
                  <c:v>2223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1645</c:v>
                </c:pt>
                <c:pt idx="1">
                  <c:v>1538</c:v>
                </c:pt>
                <c:pt idx="2">
                  <c:v>1858</c:v>
                </c:pt>
                <c:pt idx="3">
                  <c:v>1968</c:v>
                </c:pt>
                <c:pt idx="4">
                  <c:v>2153</c:v>
                </c:pt>
                <c:pt idx="5">
                  <c:v>2216</c:v>
                </c:pt>
                <c:pt idx="6">
                  <c:v>2292</c:v>
                </c:pt>
                <c:pt idx="7">
                  <c:v>2293</c:v>
                </c:pt>
                <c:pt idx="8">
                  <c:v>2170</c:v>
                </c:pt>
                <c:pt idx="9">
                  <c:v>2083</c:v>
                </c:pt>
                <c:pt idx="10">
                  <c:v>1911</c:v>
                </c:pt>
                <c:pt idx="11">
                  <c:v>1826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Arial"/>
              </a:rPr>
              <a:t>TOTAL ASET (Rp juta)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Des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Mei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Agu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73000</c:v>
                </c:pt>
                <c:pt idx="1">
                  <c:v>73995</c:v>
                </c:pt>
                <c:pt idx="2">
                  <c:v>75912</c:v>
                </c:pt>
                <c:pt idx="3">
                  <c:v>77351</c:v>
                </c:pt>
                <c:pt idx="4">
                  <c:v>80590</c:v>
                </c:pt>
                <c:pt idx="5">
                  <c:v>81681</c:v>
                </c:pt>
                <c:pt idx="6">
                  <c:v>83099</c:v>
                </c:pt>
                <c:pt idx="7">
                  <c:v>85539</c:v>
                </c:pt>
                <c:pt idx="8">
                  <c:v>87764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7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Pendapatan &amp; EBITDA YTD per entitas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Pendapatan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GEL</c:v>
                  </c:pt>
                  <c:pt idx="1">
                    <c:v>TBA</c:v>
                  </c:pt>
                  <c:pt idx="2">
                    <c:v>TBB</c:v>
                  </c:pt>
                  <c:pt idx="3">
                    <c:v>JLP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8865</c:v>
                </c:pt>
                <c:pt idx="1">
                  <c:v>1641069</c:v>
                </c:pt>
                <c:pt idx="2">
                  <c:v>890424</c:v>
                </c:pt>
                <c:pt idx="3">
                  <c:v>83149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GEL</c:v>
                  </c:pt>
                  <c:pt idx="1">
                    <c:v>TBA</c:v>
                  </c:pt>
                  <c:pt idx="2">
                    <c:v>TBB</c:v>
                  </c:pt>
                  <c:pt idx="3">
                    <c:v>JLP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2675</c:v>
                </c:pt>
                <c:pt idx="1">
                  <c:v>241815</c:v>
                </c:pt>
                <c:pt idx="2">
                  <c:v>130171</c:v>
                </c:pt>
                <c:pt idx="3">
                  <c:v>25520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Stripping ratio: peer FY2024 vs GEL YTD (x)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FY2024</c:v>
                </c:pt>
              </c:strCache>
            </c:strRef>
          </c:tx>
          <c:spPr>
            <a:solidFill>
              <a:srgbClr val="A3A19A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AADI</c:v>
                  </c:pt>
                  <c:pt idx="1">
                    <c:v>INDY</c:v>
                  </c:pt>
                  <c:pt idx="2">
                    <c:v>PTBA</c:v>
                  </c:pt>
                  <c:pt idx="3">
                    <c:v>BUMI</c:v>
                  </c:pt>
                  <c:pt idx="4">
                    <c:v>ITMG</c:v>
                  </c:pt>
                  <c:pt idx="5">
                    <c:v>TBA</c:v>
                  </c:pt>
                  <c:pt idx="6">
                    <c:v>TBB</c:v>
                  </c:pt>
                  <c:pt idx="7">
                    <c:v>GEL GROUP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4.35</c:v>
                </c:pt>
                <c:pt idx="1">
                  <c:v>5.7</c:v>
                </c:pt>
                <c:pt idx="2">
                  <c:v>6.23</c:v>
                </c:pt>
                <c:pt idx="3">
                  <c:v>8.7</c:v>
                </c:pt>
                <c:pt idx="4">
                  <c:v>10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GEL YTD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AADI</c:v>
                  </c:pt>
                  <c:pt idx="1">
                    <c:v>INDY</c:v>
                  </c:pt>
                  <c:pt idx="2">
                    <c:v>PTBA</c:v>
                  </c:pt>
                  <c:pt idx="3">
                    <c:v>BUMI</c:v>
                  </c:pt>
                  <c:pt idx="4">
                    <c:v>ITMG</c:v>
                  </c:pt>
                  <c:pt idx="5">
                    <c:v>TBA</c:v>
                  </c:pt>
                  <c:pt idx="6">
                    <c:v>TBB</c:v>
                  </c:pt>
                  <c:pt idx="7">
                    <c:v>GEL GROUP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8.06</c:v>
                </c:pt>
                <c:pt idx="6">
                  <c:v>8.07</c:v>
                </c:pt>
                <c:pt idx="7">
                  <c:v>8.06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8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GEL_Group_MR_Kertas_Kerja.xlsx#&apos;Slide Map&apos;!A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21.xml"/><Relationship Id="rId3" Type="http://schemas.openxmlformats.org/officeDocument/2006/relationships/slide" Target="slide34.xml"/><Relationship Id="rId4" Type="http://schemas.openxmlformats.org/officeDocument/2006/relationships/slide" Target="slide38.xml"/><Relationship Id="rId5" Type="http://schemas.openxmlformats.org/officeDocument/2006/relationships/slide" Target="slide43.xml"/><Relationship Id="rId6" Type="http://schemas.openxmlformats.org/officeDocument/2006/relationships/slide" Target="slide3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8" Type="http://schemas.openxmlformats.org/officeDocument/2006/relationships/hyperlink" Target="GEL_Group_MR_Kertas_Kerja.xlsx#&apos;R01 Fin Highlight&apos;!A1" TargetMode="External"/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8" Type="http://schemas.openxmlformats.org/officeDocument/2006/relationships/hyperlink" Target="GEL_Group_MR_Kertas_Kerja.xlsx#&apos;R01 Fin Highlight&apos;!A1" TargetMode="External"/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chart" Target="/ppt/charts/chart11.xml"/><Relationship Id="rId6" Type="http://schemas.openxmlformats.org/officeDocument/2006/relationships/chart" Target="/ppt/charts/chart12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8" Type="http://schemas.openxmlformats.org/officeDocument/2006/relationships/hyperlink" Target="GEL_Group_MR_Kertas_Kerja.xlsx#&apos;R01 Fin Highlight&apos;!A1" TargetMode="External"/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chart" Target="/ppt/charts/chart15.xml"/><Relationship Id="rId4" Type="http://schemas.openxmlformats.org/officeDocument/2006/relationships/chart" Target="/ppt/charts/chart16.xml"/><Relationship Id="rId5" Type="http://schemas.openxmlformats.org/officeDocument/2006/relationships/chart" Target="/ppt/charts/chart17.xml"/><Relationship Id="rId6" Type="http://schemas.openxmlformats.org/officeDocument/2006/relationships/chart" Target="/ppt/charts/chart18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8" Type="http://schemas.openxmlformats.org/officeDocument/2006/relationships/hyperlink" Target="GEL_Group_MR_Kertas_Kerja.xlsx#&apos;R01 Fin Highlight&apos;!A1" TargetMode="External"/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chart" Target="/ppt/charts/chart21.xml"/><Relationship Id="rId4" Type="http://schemas.openxmlformats.org/officeDocument/2006/relationships/chart" Target="/ppt/charts/chart22.xml"/><Relationship Id="rId5" Type="http://schemas.openxmlformats.org/officeDocument/2006/relationships/chart" Target="/ppt/charts/chart23.xml"/><Relationship Id="rId6" Type="http://schemas.openxmlformats.org/officeDocument/2006/relationships/chart" Target="/ppt/charts/chart24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1 Fin Highligh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4 Revenue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5 Operasional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9 AR Aging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slide" Target="slide2.xml"/><Relationship Id="rId4" Type="http://schemas.openxmlformats.org/officeDocument/2006/relationships/hyperlink" Target="GEL_Group_MR_Kertas_Kerja.xlsx#&apos;R06 COGS&apos;!A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Komentar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7 OPEX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Komentar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8 Other Inc-Exp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0 Cash Flow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1 Fin Highligh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4 Revenue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5 Operasional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9 AR Aging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7.xml"/><Relationship Id="rId3" Type="http://schemas.openxmlformats.org/officeDocument/2006/relationships/slide" Target="slide2.xml"/><Relationship Id="rId4" Type="http://schemas.openxmlformats.org/officeDocument/2006/relationships/hyperlink" Target="GEL_Group_MR_Kertas_Kerja.xlsx#&apos;R06 COGS&apos;!A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Komentar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7 OPEX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Komentar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8 Other Inc-Exp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0 Cash Flow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1 Fin Highligh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0 Cash Flow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01 Fin Highligh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Komentar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0 Cash Flow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" Target="slide45.xml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slide" Target="slide50.xml"/><Relationship Id="rId8" Type="http://schemas.openxmlformats.org/officeDocument/2006/relationships/slide" Target="slide51.xml"/><Relationship Id="rId9" Type="http://schemas.openxmlformats.org/officeDocument/2006/relationships/slide" Target="slide2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3" Type="http://schemas.openxmlformats.org/officeDocument/2006/relationships/hyperlink" Target="GEL_Group_MR_Kertas_Kerja.xlsx#&apos;R02 Entitas&apos;!A1" TargetMode="External"/><Relationship Id="rId1" Type="http://schemas.openxmlformats.org/officeDocument/2006/relationships/chart" Target="/ppt/charts/chart2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hyperlink" Target="GEL_Group_MR_Kertas_Kerja.xlsx#&apos;R03 PL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hyperlink" Target="GEL_Group_MR_Kertas_Kerja.xlsx#&apos;R13 Capex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hyperlink" Target="GEL_Group_MR_Kertas_Kerja.xlsx#&apos;R12 Covenan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3" Type="http://schemas.openxmlformats.org/officeDocument/2006/relationships/hyperlink" Target="GEL_Group_MR_Kertas_Kerja.xlsx#&apos;R14 Benchmark SR&apos;!A1" TargetMode="External"/><Relationship Id="rId1" Type="http://schemas.openxmlformats.org/officeDocument/2006/relationships/chart" Target="/ppt/charts/chart2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hyperlink" Target="GEL_Group_MR_Kertas_Kerja.xlsx#&apos;R11 Balance Sheet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hyperlink" Target="GEL_Group_MR_Kertas_Kerja.xlsx#&apos;Check&apos;!A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 REPORT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AGUSTUS 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– Management Report (template)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Buka Slide Map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Angka = data contoh; sumber: GEL_Group_MR_Kertas_Kerja.xlsx (Slide Map)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ENTITAS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 | Klik entitas untuk menuju bagiannya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1F2328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Buka PT TB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 TBA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Tambang batubara A (IUP-OP)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325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Buka PT TB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 TBB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Tambang batubara B (IUP-OP)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8346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Buka PT JL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 JLP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Jasa logistik &amp; pelabuhan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346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Buka PT GEL (INDUK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 GEL (INDUK)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Induk usaha / holding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343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Buka LAPORAN GR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LAPORAN GRUP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per entitas, laba rugi konsolidasi, capex, covenant, benchmark SR, neraca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43434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4343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Buka KEY INDIC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INDICATOR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grafik per entitas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grafik per entitas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 – GEL GROUP (KONSOLIDASI)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 | Aktual vs Budget per bulan | Rp juta / ton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36576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420624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5" descr=""/>
          <p:cNvGraphicFramePr/>
          <p:nvPr/>
        </p:nvGraphicFramePr>
        <p:xfrm>
          <a:off x="804672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13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 – PT TBA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 | Aktual vs Budget per bulan | Rp juta / ton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36576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420624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5" descr=""/>
          <p:cNvGraphicFramePr/>
          <p:nvPr/>
        </p:nvGraphicFramePr>
        <p:xfrm>
          <a:off x="804672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13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 – PT TBB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 | Aktual vs Budget per bulan | Rp juta / ton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36576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420624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5" descr=""/>
          <p:cNvGraphicFramePr/>
          <p:nvPr/>
        </p:nvGraphicFramePr>
        <p:xfrm>
          <a:off x="804672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13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 – PT JLP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 | Aktual vs Budget per bulan | Rp juta / ton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09728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36576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420624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5" descr=""/>
          <p:cNvGraphicFramePr/>
          <p:nvPr/>
        </p:nvGraphicFramePr>
        <p:xfrm>
          <a:off x="8046720" y="3794760"/>
          <a:ext cx="3703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JLP, Bulan = Agustus 2026 | Slide Map: sheet 'Slide Map'</a:t>
            </a:r>
            <a:endParaRPr lang="en-US" sz="800" dirty="0"/>
          </a:p>
        </p:txBody>
      </p:sp>
      <p:sp>
        <p:nvSpPr>
          <p:cNvPr id="13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</a:tblGrid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INDICATORS (Rp juta)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(Under)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OPERASIONAL: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 removal (bcm)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1.883.049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2.195.899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2.218.568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22.669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73.568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15.363.294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23.244.000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Produksi batubara (ton)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239.194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274.042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283.132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1.905.689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Stripping ratio (bcm/t)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batubara (ton)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228.348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261.662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1.844.017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2.920.400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jual rata-rata (USD/t)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53,76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cost FOB excl. royalti (USD/t)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(0,63)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KEUANGAN: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200.649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230.912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240.818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241.870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(1.052)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1.641.069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2.622.028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pokok 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171.211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190.567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195.907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190.159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1.394.920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2.098.628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29.438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40.345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51.711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(6.800)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(13,2%)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246.149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usaha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39.094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(7.817)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141.301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374.460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29.092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39.581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52.394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(7.654)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(14,6%)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241.815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527.660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18.383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22.366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28.926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(6.560)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95.995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272.985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debt to equity ratio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==&gt; Batas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 coverage ratio (YTD)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2,69x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2,89x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3,11x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==&gt; Batas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(1) – PENJUALAN PER PEMBELI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Pembeli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 YTD USD/t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35.573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38.648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42.330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286.802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290.446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47.765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51.895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56.839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47.446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52.402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58.611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385.102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389.995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49.512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58.917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54.318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60.753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399.184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404.254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46.388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25.999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28.991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31.843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213.988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30.118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200.749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138.936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135.184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110.542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23.329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127.796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104.498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228.348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261.662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202.157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243.239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1.844.017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1.652.659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'R04 Revenue' B30:X40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(2) – KINERJA OPERASIONAL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 removal (bcm)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1.883.049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2.195.899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2.218.568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15.363.294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23.244.000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14.179.227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Produksi batubara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239.194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274.042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283.132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1.905.689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1.817.849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Stripping ratio (bcm/t)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Hauling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236.803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271.302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280.301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272.250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1.886.632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2.950.200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1.799.670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Barging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228.348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261.662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1.844.015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2.920.400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1.781.493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ekspor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132.850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144.335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158.086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1.071.088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1.752.240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1.068.894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DMO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62.389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69.320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76.506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75.460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509.949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817.712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498.819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non-DMO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33.109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48.007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34.912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262.980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350.448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213.780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penjualan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228.348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261.662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1.844.017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2.920.400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1.781.493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Stok akhir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215.664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228.044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241.673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219.750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241.673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200.728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 (USD/t)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Kurs (Rp/USD)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ratio (L/bcm)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availability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of availability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 hujan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'R05 Operasional' B5:AA28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 PIUTANG USAHA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49393"/>
                <a:gridCol w="1349393"/>
                <a:gridCol w="1349393"/>
                <a:gridCol w="1349393"/>
                <a:gridCol w="1349393"/>
                <a:gridCol w="1349393"/>
                <a:gridCol w="1349393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Pembeli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piutang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jatuh tempo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31–60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61–90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&gt; 60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71.580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61.538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361.227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198.676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90.306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'R09 AR Aging' A5:J17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REVENUE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REVENUE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Pengupasan OB (kontraktor + BBM + peledakan)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105.557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106.110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101.036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743.392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1.094.863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667.884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Penggalian batubara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31.399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48.872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29.813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tambang tetap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62.394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53.760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Pengolahan &amp; hauling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131.696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198.763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121.249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Pelabuhan &amp; barging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25.922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179.641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277.792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169.456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Royalti / PNBP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81.709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130.561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79.645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Overhead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142.680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86.963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 armada logistik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Penyusutan &amp; amortisasi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98.114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91.207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Perubahan persediaan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(1.479)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(7.250)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(4.137)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(3.112)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(30.387)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(33.178)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(14.904)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(103,9%)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 OF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171.211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190.567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195.907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190.159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1.394.920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2.098.628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1.285.073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BCM pengupasan OB (USD/bcm)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cost FOB excl. royalti (USD/t)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728" y="2487168"/>
            <a:ext cx="237744" cy="23774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Lihat penjelas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9728" y="1938528"/>
            <a:ext cx="237744" cy="23774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Lihat penjelas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'R06 COGS' B5:AA26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REVENUE – PENJELASAN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PELABUHAN &amp; BARGING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Pelabuhan &amp; barging naik sebesar Rp 932 jt atau 3,7% (Rp 25.922 jt vs Rp 24.990 jt), terutama karena kenaikan tarif tongkang musim kemarau (draft sungai rendah) dan tambahan transshipment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179.641 jt vs budget Rp 185.271 jt → under budget Rp 5.630 jt (3,0%).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TAMBANG TETAP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tambang tetap turun sebesar Rp 645 jt atau 9,0% (Rp 6.504 jt vs Rp 7.149 jt), terutama karena perbaikan jalan hauling pasca hujan deras dan tambahan sewa pompa dewatering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62.394 jt vs budget Rp 58.825 jt → over budget Rp 3.569 jt (6,1%).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177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otomatis dari sheet "Komentar" (kolom F–K); teks penjelasan diisi FP&amp;A di kolom L–M.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'Komentar' A4:L40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EXPENSE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Gaji &amp; tunjangan karyawan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38.444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35.105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Jasa profesional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kantor &amp; umum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Perjalanan dinas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Asuransi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Pajak, perizinan &amp; iuran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 &amp; komunikasi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Penyusutan aset kantor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penjualan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31.829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fee (berelasi)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(0,7%)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OPERATING EXPENSE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104.848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148.940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90.785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'R07 OPEX' B5:AA20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 – PENJELASAN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GAJI &amp; TUNJANGAN KARYAWAN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Gaji &amp; tunjangan karyawan turun sebesar Rp 482 jt atau 8,9% (Rp 4.937 jt vs Rp 5.419 jt), terutama karena penyesuaian gaji &amp; tunjangan karyawan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38.444 jt vs budget Rp 38.400 jt → over budget Rp 44 jt (0,1%).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PENJUALAN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penjualan naik sebesar Rp 49 jt atau 1,1% (Rp 4.406 jt vs Rp 4.357 jt), terutama karena kenaikan demurrage pengapalan ekspor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31.829 jt vs budget Rp 26.901 jt → over budget Rp 4.928 jt (18,3%).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177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otomatis dari sheet "Komentar" (kolom F–K); teks penjelasan diisi FP&amp;A di kolom L–M.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'Komentar' A4:L40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INCOME (EXPENSE)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INCOME (EXPENSE) (Rp juta)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bunga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bunga pinjaman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(2.200)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(2.180)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(2.160)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(2.160)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(17.840)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(26.280)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(16.308)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(9,4%)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selisih kurs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(784)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(49,6%)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(1.463)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Lain-lain – neto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OTHER INCOME (EXPENSE)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(2.115)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(2.732)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(2.603)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(18.233)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(24.480)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(15.211)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(19,9%)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'R08 Other Inc-Exp' B5:AA11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</a:tblGrid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FLOW (Rp juta)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dari pelanggan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213.425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185.518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225.959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241.870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(15.911)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1.609.842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1.748.749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(138.907)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pemasok &amp; kontraktor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(160.793)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(132.269)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(174.917)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(169.240)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(5.677)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(1.190.776)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(1.241.095)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50.319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karyawan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(11.378)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(12.161)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(11.798)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(11.300)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(498)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(92.295)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(90.400)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(1.895)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royalti / PNBP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(10.414)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(9.989)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(12.048)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(80.713)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(87.077)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pajak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(4.814)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(4.166)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(6.185)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(8.158)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(41.765)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(50.097)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dari operasi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21.559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41.124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(19.565)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204.293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280.080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(75.787)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bunga &amp; biaya pinjaman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(2.200)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(2.160)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(17.840)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(17.840)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pokok pinjaman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(9.700)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(9.680)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(9.660)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(9.660)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(77.840)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(77.840)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tersedia setelah 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31.464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(19.565)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126.453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202.240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(75.787)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tambang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(56.000)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aset tetap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untuk investasi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(180.000)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(176.000)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bunga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 &amp; setoran modal – neto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dibatasi (DSRA)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pendanaan &amp; lainnya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(40.350)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(42.800)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(38.800)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Kenaikan (penurunan) kas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(46.524)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(5.597)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(10.951)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(20.565)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(96.347)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(12.560)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(83.787)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awal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116.725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70.201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64.604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127.826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(63.222)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70.201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64.604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53.653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137.440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(83.787)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53.653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137.440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(83.787)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'R10 Cash Flow' B5:AA32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SHEETS (1) – ASET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&amp;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70.201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64.604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53.653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(64,2%)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dibatasi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300.974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346.368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361.227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lain-lain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Persediaan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149.212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157.372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162.804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Uang muka &amp; pajak dibayar dimuka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37.616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38.494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594.841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644.196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654.465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tetap – neto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957.600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Properti tambang &amp; stripping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455.030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456.549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457.886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eksplorasi &amp; evaluasi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pajak tangguhan &amp; lainnya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tidak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1.435.230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1.444.449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1.453.486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2.052.000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2.030.071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2.088.645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2.107.951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B5:S24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SHEETS (2) – LIABILITAS &amp; EKUITAS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TBA  |  Agustus 2026  |  Rp juta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297.964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343.384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346.372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royalti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Akrual &amp; utang pajak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35.248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pendek &amp; bagian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pendek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494.035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540.132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542.923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panjang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 &amp; liabilitas lainnya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122.790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124.384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126.033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panjang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527.790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521.884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516.033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(8,7%)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1.059.000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1.021.825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1.062.016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1.058.956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saham &amp; tambahan modal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laba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tahun berjalan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55.246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73.629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Penghasilan komprehensif 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EKUITAS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1.008.246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1.026.629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1.048.995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&amp; EKUITAS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2.052.000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2.030.071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2.088.645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2.107.951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B25:S45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TBA,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</a:tblGrid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INDICATORS (Rp juta)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(Under)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OPERASIONAL: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 removal (bcm)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1.073.048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1.098.282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1.109.955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1.185.796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(75.841)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8.338.515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12.853.941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Produksi batubara (ton)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136.304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137.063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141.652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152.025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(10.373)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(6,8%)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1.033.708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1.647.940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Stripping ratio (bcm/t)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batubara (ton)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130.123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130.871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134.834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148.985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(14.151)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(9,5%)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1.000.580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1.614.983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jual rata-rata (USD/t)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53,76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cost FOB excl. royalti (USD/t)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(0,63)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KEUANGAN: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114.338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115.491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120.482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4.991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133.711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(13.229)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(9,9%)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890.424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1.449.986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pokok 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97.563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95.315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98.013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105.124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(7.111)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(6,8%)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757.900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1.160.615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20.176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22.469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(6.118)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(21,4%)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132.524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289.371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usaha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(5.964)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(27,6%)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75.527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206.985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16.578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19.793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22.383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28.964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(6.581)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130.171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291.718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9.192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15.991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(4.801)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150.889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debt to equity ratio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0,82x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==&gt; Batas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 coverage ratio (YTD)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2,72x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3,05x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==&gt; Batas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(1) – PENJUALAN PER PEMBELI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  <a:gridCol w="1026871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Pembeli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Rp juta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 YTD USD/t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145.034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146.815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35.830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39.256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37.324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40.479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288.643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292.184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18.534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20.737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147.867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149.680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101.373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70.169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21.972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24.256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175.391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121.404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64.898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53.106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77.374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63.318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130.123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130.871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134.834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115.198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116.335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121.693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896.676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'R04 Revenue' B30:X40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(2) – KINERJA OPERASIONAL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 removal (bcm)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1.073.048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1.098.282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1.109.955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1.185.796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8.338.515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12.853.941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7.826.488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Produksi batubara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136.304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137.063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141.652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152.025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1.033.708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1.647.940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1.003.396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Stripping ratio (bcm/t)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Hauling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134.941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135.692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140.235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150.505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1.023.369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1.631.460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993.362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Barging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130.123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130.871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134.833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148.985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1.000.578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1.614.982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983.329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ekspor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75.704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72.189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89.391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581.544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968.989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589.996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DMO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35.552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34.671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41.716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276.764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452.196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275.333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non-DMO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142.272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193.798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penjualan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130.123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130.871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134.834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148.985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1.614.983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983.329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Stok akhir (ton)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122.895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114.057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120.910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121.482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120.910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137.518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110.966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 (USD/t)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Kurs (Rp/USD)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ratio (L/bcm)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availability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of availability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 hujan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'R05 Operasional' B5:AA28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 PIUTANG USAHA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49393"/>
                <a:gridCol w="1349393"/>
                <a:gridCol w="1349393"/>
                <a:gridCol w="1349393"/>
                <a:gridCol w="1349393"/>
                <a:gridCol w="1349393"/>
                <a:gridCol w="1349393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Pembeli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piutang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jatuh tempo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31–60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61–90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&gt; 60 hari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22.452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EX-C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23.408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198.675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109.271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'R09 AR Aging' A5:J17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REVENUE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REVENUE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Pengupasan OB (kontraktor + BBM + peledakan)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50.789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52.795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53.087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403.563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605.460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368.651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Penggalian batubara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tambang tetap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34.063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49.075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29.688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Pengolahan &amp; hauling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109.917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66.926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Pelabuhan &amp; barging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153.619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93.535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Royalti / PNBP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72.201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43.963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Overhead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52.745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78.923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48.005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 armada logistik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Penyusutan &amp; amortisasi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53.337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Perubahan persediaan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(843)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(3.626)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(2.070)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(1.720)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(16.176)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(18.347)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(8.206)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(97,1%)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 OF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95.315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98.013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105.124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757.900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1.160.615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709.364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BCM pengupasan OB (USD/bcm)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cost FOB excl. royalti (USD/t)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728" y="2487168"/>
            <a:ext cx="237744" cy="23774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Lihat penjelas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9728" y="1938528"/>
            <a:ext cx="237744" cy="23774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Lihat penjelas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'R06 COGS' B5:AA26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REVENUE – PENJELASAN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PELABUHAN &amp; BARGING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Pelabuhan &amp; barging naik sebesar Rp 470 jt atau 3,8% (Rp 12.969 jt vs Rp 12.499 jt), terutama karena kenaikan tarif tongkang musim kemarau (draft sungai rendah) dan tambahan transshipment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97.526 jt vs budget Rp 102.270 jt → under budget Rp 4.744 jt (4,6%).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TAMBANG TETAP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tambang tetap turun sebesar Rp 322 jt atau 9,0% (Rp 3.254 jt vs Rp 3.576 jt), terutama karena perbaikan jalan hauling pasca hujan deras dan tambahan sewa pompa dewatering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34.063 jt vs budget Rp 32.485 jt → over budget Rp 1.578 jt (4,9%).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177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otomatis dari sheet "Komentar" (kolom F–K); teks penjelasan diisi FP&amp;A di kolom L–M.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'Komentar' A4:L40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EXPENSE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Gaji &amp; tunjangan karyawan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20.862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31.863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Jasa profesional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kantor &amp; umum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Perjalanan dinas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Asuransi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Pajak, perizinan &amp; iuran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 &amp; komunikasi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Penyusutan aset kantor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penjualan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22.313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fee (berelasi)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OPERATING EXPENSE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82.386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'R07 OPEX' B5:AA20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 – PENJELASAN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GAJI &amp; TUNJANGAN KARYAWAN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Gaji &amp; tunjangan karyawan turun sebesar Rp 240 jt atau 8,9% (Rp 2.470 jt vs Rp 2.710 jt), terutama karena penyesuaian gaji &amp; tunjangan karyawan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20.862 jt vs budget Rp 21.200 jt → under budget Rp 338 jt (1,6%).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PENJUALAN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Beban penjualan naik sebesar Rp 25 jt atau 1,1% (Rp 2.205 jt vs Rp 2.180 jt), terutama karena kenaikan demurrage pengapalan ekspor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17.308 jt vs budget Rp 14.851 jt → over budget Rp 2.457 jt (16,5%).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177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otomatis dari sheet "Komentar" (kolom F–K); teks penjelasan diisi FP&amp;A di kolom L–M.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'Komentar' A4:L40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INCOME (EXPENSE)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INCOME (EXPENSE) (Rp juta)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bunga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bunga pinjaman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(1.254)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(1.090)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(1.081)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(1.194)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(9.718)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(14.536)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(9.001)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selisih kurs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(262)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(392)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(49,6%)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(748)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Lain-lain – neto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OTHER INCOME (EXPENSE)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(1.206)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(1.366)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(1.302)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(1.111)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(9.875)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(13.541)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(8.395)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(17,6%)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'R08 Other Inc-Exp' B5:AA11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</a:tblGrid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FLOW (Rp juta)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dari pelanggan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121.364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90.525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112.309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133.711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(21.402)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873.249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965.321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(92.072)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pemasok &amp; kontraktor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(91.418)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(64.357)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(87.613)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(93.560)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(646.726)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(685.104)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38.378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karyawan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(6.484)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(6.082)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(5.903)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(6.247)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(50.165)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(49.906)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(259)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royalti / PNBP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(5.926)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(4.921)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(5.729)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(6.660)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(43.787)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(48.067)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4.280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pajak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(2.711)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(2.032)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(3.089)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(4.510)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(22.524)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(27.641)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dari operasi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(12.759)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110.047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154.603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(44.556)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bunga &amp; biaya pinjaman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(1.254)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(1.090)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(1.081)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(1.194)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(9.718)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(9.849)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pokok pinjaman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(4.125)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(4.125)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(4.125)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(33.000)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(32.000)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(5.379)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(5.215)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(5.206)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(5.194)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(42.718)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(41.849)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(869)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tersedia setelah 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9.446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4.769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(12.771)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67.329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112.754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(45.425)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tambang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(4.219)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(3.852)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(3.844)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(3.800)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(32.711)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(30.400)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(2.311)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aset tetap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(8.405)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(7.861)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(7.862)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(65.651)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(64.000)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(1.651)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untuk investasi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(12.624)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(11.713)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(11.706)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(11.800)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(98.362)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(94.400)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(3.962)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bunga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 &amp; setoran modal – neto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(22.220)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(20.411)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(20.411)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dibatasi (DSRA)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(2.200)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(2.200)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pendanaan &amp; lainnya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(22.410)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(21.958)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(22.620)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Kenaikan (penurunan) kas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(25.588)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(3.079)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(6.023)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(11.846)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(52.991)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(72.007)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awal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214.199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188.611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185.532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245.693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(60.161)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188.611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185.532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179.509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251.516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(72.007)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179.509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251.516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(72.007)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'R10 Cash Flow' B5:AA32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SHEETS (1) – ASET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&amp;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188.611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185.532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179.509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(22,8%)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dibatasi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165.536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190.502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198.675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lain-lain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Persediaan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82.067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86.554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89.542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Uang muka &amp; pajak dibayar dimuka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20.932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21.172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522.900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477.164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504.306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509.956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tetap – neto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518.760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522.720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526.680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Properti tambang &amp; stripping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250.266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251.102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251.838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eksplorasi &amp; evaluasi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pajak tangguhan &amp; lainnya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tidak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789.376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794.447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799.418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1.266.540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1.298.753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1.309.374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B5:S24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SHEETS (2) – LIABILITAS &amp; EKUITAS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TBB  |  Agustus 2026  |  Rp juta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163.880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188.861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190.505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royalti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Akrual &amp; utang pajak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pendek &amp; bagian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pendek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271.719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297.073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298.608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panjang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222.750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218.625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pemegang saham / berelasi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 &amp; liabilitas lainnya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67.535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68.411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69.318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panjang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460.750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440.285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437.036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433.818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(0,7%)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(5,8%)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732.450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712.004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734.109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732.426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saham &amp; tambahan modal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laba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247.059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247.975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249.089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tahun berjalan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30.827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Penghasilan komprehensif 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EKUITAS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546.150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554.536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564.644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576.948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&amp; EKUITAS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1.266.540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1.298.753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1.309.374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B25:S45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TBB,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JLP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JLP  |  Agustus 2026  |  Rp juta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INDICATORS (Rp juta)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(Under)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OPERASIONAL: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 pelabuhan (ton)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107.541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117.760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121.301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125.546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(4.245)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853.378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1.360.614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KEUANGAN: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11.247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129.424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pokok 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7.543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8.186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(185)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60.909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94.516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22.240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34.908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usaha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20.320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39.828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23.953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debt to equity ratio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0,29x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==&gt; Batas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 coverage ratio (YTD)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8,54x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8,69x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8,86x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==&gt; Batas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JLP,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JLP  |  Agustus 2026  |  Rp juta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FLOW (Rp juta)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dari pelanggan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(695)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80.482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(5.781)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pemasok &amp; kontraktor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(5.507)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(5.221)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(5.758)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(6.151)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(41.284)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(44.476)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karyawan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(1.826)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(1.980)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(2.047)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(2.091)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(14.745)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(15.242)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pajak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(527)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(596)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(627)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(647)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(4.276)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(4.502)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dari operasi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(238)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20.177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22.043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(1.866)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bunga &amp; biaya pinjaman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pokok pinjaman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(2.000)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(2.880)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(2.880)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tersedia setelah 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(238)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(1.866)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aset tetap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untuk investasi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pendanaan &amp; lainnya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Kenaikan (penurunan) kas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awal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'R10 Cash Flow' B5:AA32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JLP,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JLP  |  Agustus 2026  |  Rp juta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&amp; bank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2471,0%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usaha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11.247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Persediaan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Uang muka &amp; pajak dibayar dimuka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lancar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32.964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tetap – neto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55.450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(1,2%)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tidak lancar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55.450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(1,2%)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85.539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87.764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usaha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Akrual &amp; utang pajak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pendek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panjang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 &amp; liabilitas lainnya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panjang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(2,2%)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(15,2%)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19.598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saham &amp; tambahan modal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laba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tahun berjalan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EKUITAS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63.826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65.941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&amp; EKUITAS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85.539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87.764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B5:S45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JLP,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GEL (INDUK)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GEL (INDUK)  |  Agustus 2026  |  Rp juta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  <a:gridCol w="792203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INDICATORS (Rp juta)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(Under)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KEUANGAN: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pokok pendapatan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(3,3%)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kotor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usaha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(6,8%)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EBITDA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(0,2%)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(0,9%)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(4,9%)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bersih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(0,5%)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'R01 Fin Highlight' B5:AA35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GEL,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 – PENJELASAN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GEL (INDUK)  |  Agustus 2026  |  Rp juta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GAJI &amp; TUNJANGAN KARYAWAN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Aktual: Agustus 2026 vs Juli 2026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Gaji &amp; tunjangan karyawan turun sebesar Rp 3 jt atau 0,6% (Rp 470 jt vs Rp 473 jt), terutama karena penyesuaian gaji &amp; tunjangan karyawan [contoh – ganti dengan penjelasan aktual].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YTD Agustus 2026 vs Budget YTD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Rp 3.990 jt vs budget Rp 3.888 jt → over budget Rp 102 jt (2,6%).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6177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otomatis dari sheet "Komentar" (kolom F–K); teks penjelasan diisi FP&amp;A di kolom L–M.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'Komentar' A4:L40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GEL, Bulan = Agustus 2026 | Slide Map: sheet 'Slide Map'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GEL (INDUK)  |  Agustus 2026  |  Rp juta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  <a:gridCol w="104355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FLOW (Rp juta)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dari pelanggan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pemasok &amp; kontraktor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(2.200)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(2.200)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ke karyawan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(540)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(473)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(470)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(486)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(3.990)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(3.888)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pajak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(88)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(765)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(736)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dari operasi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tersedia setelah debt service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aset tetap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untuk investasi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bunga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bersih pendanaan &amp; lainnya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Kenaikan (penurunan) kas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awal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'R10 Cash Flow' B5:AA32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GEL,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GEL (INDUK)  |  Agustus 2026  |  Rp juta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&amp; bank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232,8%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Uang muka &amp; pajak dibayar dimuka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lancar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187,7%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tetap – neto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(0,7%)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 pada entitas anak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berelasi jk. panjang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tidak lancar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973.850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973.825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973.800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975.550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977.635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977.949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978.260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Akrual &amp; utang pajak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pendek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panjang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saham &amp; tambahan modal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laba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tahun berjalan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EKUITAS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977.085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977.399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977.710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&amp; EKUITAS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975.550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977.635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977.949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978.260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B5:S45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GEL,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GRUP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Agustus 2026 | Laporan tingkat grup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Buka KINERJA PER ENTITAS (YT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KINERJA PER ENTITAS (YTD)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325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Buka LABA RUGI KONSOLID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 RUGI KONSOLIDASI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423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Buka CAPEX (TAMBANG &amp; ASET TETAP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CAPEX (TAMBANG &amp; ASET TETAP)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4231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423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Buka COVENANT PINJAM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COVENANT PINJAMAN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Buka BENCHMARK STRIPPING RAT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BENCHMARK STRIPPING RATIO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Buka NERACA KONSOLIDASI (1) – AS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NERACA KONSOLIDASI (1) – ASET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Buka NERACA KONSOLIDASI (2) – LIABILITAS &amp; EKUITA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NERACA KONSOLIDASI (2) – LIABILITAS &amp; EKUITAS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46177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Buka STATUS KONTROL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STATUS KONTROL DATA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PER ENTITAS (YTD)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 Jan – Agustus 2026 (YTD) | Rp juta</a:t>
            </a:r>
            <a:endParaRPr lang="en-US" sz="11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99439"/>
                <a:gridCol w="999439"/>
                <a:gridCol w="999439"/>
                <a:gridCol w="999439"/>
                <a:gridCol w="999439"/>
                <a:gridCol w="999439"/>
                <a:gridCol w="999439"/>
                <a:gridCol w="999439"/>
                <a:gridCol w="999439"/>
                <a:gridCol w="99943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YTD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YTD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bersih YTD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1.641.069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1.748.749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241.815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346.506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177.619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53.653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890.424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965.321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191.232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98.014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179.509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(92.014)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(94.903)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GROUP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2.531.493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2.714.070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400.181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566.835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165.078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294.212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255.319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474720"/>
          <a:ext cx="6858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'R02 Entitas' B5:O12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 RUGI KONSOLIDASI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(KONSOLIDASI)  |  Agustus 2026  |  Rp juta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  <a:gridCol w="78389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314.987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346.403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361.300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375.581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2.531.493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4.072.014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2.482.335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pokok pendapatan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266.029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282.821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290.720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291.993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2.130.580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3.224.335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1.973.600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kotor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63.582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83.588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400.913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847.679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508.735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(21,2%)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kotor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20.421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161.290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230.678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140.874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(rugi)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239.623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617.001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367.861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(34,9%)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49.209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63.148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71.032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85.377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400.181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863.034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518.216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(22,8%)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(beban) lain-lain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(3.306)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(4.083)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(3.890)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(3.106)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(27.988)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(37.841)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(23.486)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sebelum pajak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38.467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46.269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60.944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211.635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579.160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344.375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(38,5%)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Beban pajak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46.557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127.409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75.760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(38,5%)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BERSIH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47.537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165.078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451.751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268.615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(38,5%)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Marjin laba bersih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'R03 PL' B5:AA19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(TAMBANG &amp; ASET TETAP)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(KONSOLIDASI)  |  Agustus 2026  |  Rp juta</a:t>
            </a:r>
            <a:endParaRPr lang="en-US" sz="11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49299"/>
                <a:gridCol w="1249299"/>
                <a:gridCol w="1249299"/>
                <a:gridCol w="1249299"/>
                <a:gridCol w="1249299"/>
                <a:gridCol w="1249299"/>
                <a:gridCol w="1249299"/>
                <a:gridCol w="124929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tambang YTD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YTD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aset tetap YTD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YTD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YTD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budget YTD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Ach.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32.711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141.600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92.711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186.800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278.362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273.200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409.800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'R13 Capex' B5:K12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 PINJAMAN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(KONSOLIDASI)  |  Agustus 2026  |  Rp juta</a:t>
            </a:r>
            <a:endParaRPr lang="en-US" sz="11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4772"/>
                <a:gridCol w="1604772"/>
                <a:gridCol w="1604772"/>
                <a:gridCol w="1604772"/>
                <a:gridCol w="1604772"/>
                <a:gridCol w="16047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 (YTD)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2,69x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2,89x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3,11x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0,82x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 (YTD)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2,72x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0,29x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 (YTD)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8,54x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8,69x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8,86x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0,89x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0,91x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0,89x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Maks 1,50x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 (YTD)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2,86x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3,04x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1,25x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'R12 Covenant' B5:P20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STRIPPING RATIO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 Jan – Agustus 2026 (YTD) | SR = OB (bcm) ÷ produksi (ton)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5852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22960"/>
                <a:gridCol w="868680"/>
                <a:gridCol w="1051560"/>
                <a:gridCol w="8686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 YTD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 budget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Break-even SR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8,06x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11,77x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3,71x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8,07x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11,76x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3,69x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GROUP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8,06x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11,97x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3,90x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377440"/>
          <a:ext cx="5852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731520"/>
                <a:gridCol w="731520"/>
                <a:gridCol w="242316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(Tbk)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Terbaru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Keterangan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AADI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Guidance 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5,98x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Realisasi 9M2025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Realisasi 1Q2026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ITMG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Realisasi 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Group 29,4% di atas median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943600" y="4343400"/>
            <a:ext cx="5852160" cy="1325880"/>
          </a:xfrm>
          <a:prstGeom prst="rect">
            <a:avLst/>
          </a:prstGeom>
          <a:solidFill>
            <a:srgbClr val="EEF1F4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035040" y="4389120"/>
            <a:ext cx="56692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Patokan umum (tambang terbuka batubara termal Indonesia)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5x  Rendah: Sangat kompetitif; biaya tunai rendah (mis. AADI).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5–8x  Menengah: Umum untuk tambang kalori menengah di Indonesia (Kideco, PTBA).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8–12x  Tinggi: Layak bila kalori/harga jual tinggi (ekspor GAR ≥ 5.500); sensitif harga.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12x  Sangat tinggi: Hanya ekonomis saat harga tinggi; prioritas re-sequencing pit.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65760" y="5120640"/>
            <a:ext cx="5303520" cy="548640"/>
          </a:xfrm>
          <a:prstGeom prst="rect">
            <a:avLst/>
          </a:prstGeom>
          <a:solidFill>
            <a:srgbClr val="FFF4D6"/>
          </a:solidFill>
          <a:ln w="9525">
            <a:solidFill>
              <a:srgbClr val="E8A317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5120640"/>
            <a:ext cx="5120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GEL Group YTD 8,06x = kategori tinggi, di atas median peer 6,23x. Break-even SR 11,97x → headroom 3,90x; batas aman (80% × break-even) 9,57x.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SR = (ASP − royalti/t − biaya tunai non-OB/t) ÷ biaya OB per bcm. Sumber peer: rilis kinerja/presentasi FY2024 AADI, Indika (Kideco), PTBA, BUMI (SR = OB ÷ produksi), riset sekuritas ITMG. Data publik – verifikasi ke laporan tahunan sebelum dipakai eksternal.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'R14 Benchmark SR' B4:P38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NERACA KONSOLIDASI (1) – ASET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(KONSOLIDASI)  |  Agustus 2026  |  Rp juta</a:t>
            </a:r>
            <a:endParaRPr lang="en-US" sz="11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&amp;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384.450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275.708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269.502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255.319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(33,6%)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dibatasi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466.510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536.870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559.902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lain-lain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Persediaan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233.779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246.426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254.846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Uang muka &amp; pajak dibayar dimuka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59.405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60.766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1.206.450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1.092.501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1.171.468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1.190.178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tetap – neto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1.459.000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1.521.910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1.532.395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1.542.880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Properti tambang &amp; stripping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682.000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705.296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707.651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709.724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eksplorasi &amp; evaluasi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pajak tangguhan &amp; lainnya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 tidak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2.193.700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2.284.556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2.298.171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2.311.504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3.400.150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3.377.057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3.469.639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3.501.682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B5:S24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NERACA KONSOLIDASI (2) – LIABILITAS &amp; EKUITAS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(KONSOLIDASI)  |  Agustus 2026  |  Rp juta</a:t>
            </a:r>
            <a:endParaRPr lang="en-US" sz="11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60932"/>
                <a:gridCol w="1360932"/>
                <a:gridCol w="1360932"/>
                <a:gridCol w="1360932"/>
                <a:gridCol w="1360932"/>
                <a:gridCol w="13609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(Rp juta)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 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 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 (Dec)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vs Des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usaha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445.900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457.729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527.746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532.210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royalti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18.594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Akrual &amp; utang pajak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57.877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55.510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pendek &amp; bagian lancar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pendek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764.050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763.589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834.656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838.814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bank jk. panjang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709.500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638.250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626.375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(13,4%)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 &amp; liabilitas lainnya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191.525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193.995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196.551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jk. panjang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888.950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829.775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820.370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811.051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(1,1%)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(8,8%)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1.653.000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1.593.364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1.655.026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1.649.865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saham &amp; tambahan modal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laba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802.500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740.059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740.975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742.089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(7,5%)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tahun berjalan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128.988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165.078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Penghasilan komprehensif lain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EKUITAS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1.747.150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1.783.693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1.814.613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1.851.817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LIABILITAS &amp; EKUITAS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3.400.150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3.377.057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3.469.639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3.501.682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'R11 Balance Sheet' B25:S45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KONTROL DATA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(KONSOLIDASI)  |  Agustus 2026  |  Rp juta</a:t>
            </a:r>
            <a:endParaRPr lang="en-US" sz="11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93268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1188720"/>
                <a:gridCol w="1737360"/>
                <a:gridCol w="1737360"/>
              </a:tblGrid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 (Rp juta)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Neraca seimbang (bulan laporan)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Neraca seimbang (bulan laporan)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Neraca seimbang (bulan laporan)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Neraca seimbang (bulan laporan)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Neraca seimbang (bulan laporan)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YTD = akun laba tahun berjalan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 arus kas = kas neraca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YTD = akun laba tahun berjalan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 arus kas = kas neraca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YTD = akun laba tahun berjalan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 arus kas = kas neraca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YTD = akun laba tahun berjalan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 akhir arus kas = kas neraca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Data = pendapatan batubara TB (YTD)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aging = piutang usaha neraca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Data = pendapatan batubara TB (YTD)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aging = piutang usaha neraca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KESELURUHAN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SIAP KIRIM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63727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kontrol harus OK sebelum paket laporan dikirim. Detail &amp; rumus: sheet "Check" di Excel.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863072" y="27432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63072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mbali k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back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</a:t>
            </a:r>
            <a:pPr indent="0" marL="0">
              <a:buNone/>
            </a:pPr>
            <a:r>
              <a:rPr lang="en-US" sz="8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Buka sheet sumber di Exc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GEL_Group_MR_Kertas_Kerja.xlsx › 'Check' A4:E25</a:t>
            </a:r>
            <a:pPr indent="0" marL="0">
              <a:buNone/>
            </a:pPr>
            <a:r>
              <a:rPr lang="en-US" sz="8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Setting: Entitas = GRUP, Bulan = Agustus 2026 | Slide Map: sheet 'Slide Map'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Group – FP&amp;A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 Group – Financial Performance Report</dc:title>
  <dc:subject>PptxGenJS Presentation</dc:subject>
  <dc:creator>PptxGenJS</dc:creator>
  <cp:lastModifiedBy>PptxGenJS</cp:lastModifiedBy>
  <cp:revision>1</cp:revision>
  <dcterms:created xsi:type="dcterms:W3CDTF">2026-09-29T08:52:27Z</dcterms:created>
  <dcterms:modified xsi:type="dcterms:W3CDTF">2026-09-29T08:52:27Z</dcterms:modified>
</cp:coreProperties>
</file>